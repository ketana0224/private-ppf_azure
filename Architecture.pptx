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4ACBA-AA85-8FEB-1E4C-A28E26B6F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504E60F-0294-A637-B178-864202374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B40C8A-B60B-324C-E3DB-FFAD2A52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FC7F02-D11B-C8F5-B530-EF0E151F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BB76F-8084-3B00-311B-9D95CB8A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721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829737-19A5-AA3A-0055-BDDBE6F2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EE1143-CF51-6AB9-9519-78E5433CB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A548F5-180D-226D-0905-D5B33D0C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B94F94-EE01-8827-5B95-1D3F489D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8F4A9-195A-1FF7-FF83-8689B023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946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FEEA4-76E4-15F3-8DCD-533567823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F89588-082C-0D5E-42A3-C40367C16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8231D-2F8A-204C-0931-2E4ACC9D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C72816-4F00-7571-2169-9836D705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3E015-CF8E-84E9-B6CF-BDF7D693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23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09B8EB-4B5F-D25E-26C0-88FB11D39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4C5459-AC45-FA1B-0198-310A1AF73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B5C656-7597-2A12-70A2-EF34428D9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B88CC3-0D74-E7BD-0511-6405B6D4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7D7645-7B21-9A49-24CB-2633BB98A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C6E401-5081-CDC9-EF24-8FCF67BF0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14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37E2B8-9287-BDDD-6209-0583750B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8E8A6D-652A-F68E-9FC9-AC419F025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8C5F64-CE12-B49F-6334-ED527B08D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A9FAD86-6194-CB5E-382F-BC45577915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DA04F4E-281B-2B0C-B9FE-DB8B5BAE9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D628D2-5ED7-864D-C4D0-4F7B3BDA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B431253-38EB-FDCB-F7ED-1797516B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6D2E43-98AF-F349-5756-1938E719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19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77D7A4-E3D1-2936-EA6A-4B6070D50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5ACC81-2888-EFB1-2433-9722B2394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EF0D7F-7803-F36C-2BEB-1B3A0498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6788D6-7E61-F208-6912-C0A1A11B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3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E63BEEE-8896-867B-423D-5F93B095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2677A5-E9F0-3A78-FBAA-05E8A84C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09748A-E24C-0A6D-0BB6-D44898EF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994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61E3B6-6214-4234-6F3F-963FCCBE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09D9B-C259-6E19-4149-D5ACBB05E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98BEDD5-D588-3712-3206-1B6FCC223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59281B-4CCE-FF09-063B-59BB5096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AD1986-2CF0-8039-4BBC-AD61864B6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108B08-112C-7F1F-FC0D-061CC2D6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02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92D2C1-26B4-E622-D322-93616CFD7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8C06E83-1839-5454-68CC-FF07EFF02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0ACBA3-9DB7-3A9A-5ABA-7C71D6943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64D6E5-731A-2C29-893C-919F10D47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5522E64-3E94-94F4-8CD1-B3A18B9A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875E4-5EF9-4234-6EA3-CDE037CB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566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81A67-7B76-6B91-E692-08AD5306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BDA1730-73EE-B838-79A9-994C9C896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E9212E-960B-91FA-C9E8-2E4890E5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DC8DD4-09B3-7086-8CE7-EE4645911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92F57F-E410-3EFD-8922-F4157B49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58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D29CB2-F802-CF3B-9586-6383D112C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76C58A9-925E-D5B8-E056-7D3864AAC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714ABE-FB69-2616-D8DA-74EBD98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C4D293-AF5F-7BAD-7842-76E385A3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F6CA8E-5EA2-780B-E53C-C6F75A165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380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CC8BE9E-0DA3-7921-4622-B9635A21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A7AF25-8E6B-F8FB-5E56-226E7FC42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3F0B8D-9E56-3039-085A-C5261DFCE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98640-EB8D-442E-9CF3-FBBAEBD7B68C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E98A2C-8009-2988-6D4B-4E05771BB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F4DE97-C99D-9BF4-7D7C-B0A0352E7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0E7622-BD22-4E26-BD29-67CC709BA20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471D20-2929-095E-7CDC-F0417F915A8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3769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05EF7B-AAE9-C03A-5979-1E06A658C1D3}"/>
              </a:ext>
            </a:extLst>
          </p:cNvPr>
          <p:cNvSpPr txBox="1"/>
          <p:nvPr/>
        </p:nvSpPr>
        <p:spPr>
          <a:xfrm>
            <a:off x="3624326" y="266631"/>
            <a:ext cx="3623506" cy="235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350" spc="0" baseline="0" dirty="0">
                <a:ln/>
                <a:solidFill>
                  <a:srgbClr val="2D3436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閉域</a:t>
            </a:r>
            <a:r>
              <a:rPr lang="ja-JP" altLang="en-US" sz="1350" spc="0" baseline="0" dirty="0">
                <a:ln/>
                <a:solidFill>
                  <a:srgbClr val="2D3436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 Power Platform → Container Apps (MCP) / Private Link</a:t>
            </a:r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9D6CCA83-499E-99ED-385A-6D4EAC81B968}"/>
              </a:ext>
            </a:extLst>
          </p:cNvPr>
          <p:cNvSpPr/>
          <p:nvPr/>
        </p:nvSpPr>
        <p:spPr>
          <a:xfrm>
            <a:off x="1437749" y="762028"/>
            <a:ext cx="6602391" cy="5100723"/>
          </a:xfrm>
          <a:custGeom>
            <a:avLst/>
            <a:gdLst>
              <a:gd name="csX0" fmla="*/ 85852 w 7287669"/>
              <a:gd name="csY0" fmla="*/ 5101530 h 5100723"/>
              <a:gd name="csX1" fmla="*/ 7201905 w 7287669"/>
              <a:gd name="csY1" fmla="*/ 5101530 h 5100723"/>
              <a:gd name="csX2" fmla="*/ 7287713 w 7287669"/>
              <a:gd name="csY2" fmla="*/ 5015683 h 5100723"/>
              <a:gd name="csX3" fmla="*/ 7287713 w 7287669"/>
              <a:gd name="csY3" fmla="*/ 86652 h 5100723"/>
              <a:gd name="csX4" fmla="*/ 7201905 w 7287669"/>
              <a:gd name="csY4" fmla="*/ 805 h 5100723"/>
              <a:gd name="csX5" fmla="*/ 85852 w 7287669"/>
              <a:gd name="csY5" fmla="*/ 805 h 5100723"/>
              <a:gd name="csX6" fmla="*/ 43 w 7287669"/>
              <a:gd name="csY6" fmla="*/ 86652 h 5100723"/>
              <a:gd name="csX7" fmla="*/ 43 w 7287669"/>
              <a:gd name="csY7" fmla="*/ 5015683 h 5100723"/>
              <a:gd name="csX8" fmla="*/ 85852 w 7287669"/>
              <a:gd name="csY8" fmla="*/ 5101530 h 51007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7287669" h="5100723">
                <a:moveTo>
                  <a:pt x="85852" y="5101530"/>
                </a:moveTo>
                <a:cubicBezTo>
                  <a:pt x="85852" y="5101530"/>
                  <a:pt x="7201905" y="5101530"/>
                  <a:pt x="7201905" y="5101530"/>
                </a:cubicBezTo>
                <a:cubicBezTo>
                  <a:pt x="7244809" y="5101530"/>
                  <a:pt x="7287713" y="5058606"/>
                  <a:pt x="7287713" y="5015683"/>
                </a:cubicBezTo>
                <a:cubicBezTo>
                  <a:pt x="7287713" y="5015683"/>
                  <a:pt x="7287713" y="86652"/>
                  <a:pt x="7287713" y="86652"/>
                </a:cubicBezTo>
                <a:cubicBezTo>
                  <a:pt x="7287713" y="43729"/>
                  <a:pt x="7244809" y="805"/>
                  <a:pt x="7201905" y="805"/>
                </a:cubicBezTo>
                <a:cubicBezTo>
                  <a:pt x="7201905" y="805"/>
                  <a:pt x="85852" y="805"/>
                  <a:pt x="85852" y="805"/>
                </a:cubicBezTo>
                <a:cubicBezTo>
                  <a:pt x="42948" y="805"/>
                  <a:pt x="43" y="43729"/>
                  <a:pt x="43" y="86652"/>
                </a:cubicBezTo>
                <a:cubicBezTo>
                  <a:pt x="43" y="86652"/>
                  <a:pt x="43" y="5015683"/>
                  <a:pt x="43" y="5015683"/>
                </a:cubicBezTo>
                <a:cubicBezTo>
                  <a:pt x="43" y="5058606"/>
                  <a:pt x="42948" y="5101530"/>
                  <a:pt x="85852" y="5101530"/>
                </a:cubicBezTo>
              </a:path>
            </a:pathLst>
          </a:custGeom>
          <a:solidFill>
            <a:srgbClr val="E5F5FD"/>
          </a:solidFill>
          <a:ln w="7151" cap="flat">
            <a:solidFill>
              <a:srgbClr val="AEB6BE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F8961B-DB35-C768-FCD6-A47EF0E9B4EA}"/>
              </a:ext>
            </a:extLst>
          </p:cNvPr>
          <p:cNvSpPr txBox="1"/>
          <p:nvPr/>
        </p:nvSpPr>
        <p:spPr>
          <a:xfrm>
            <a:off x="1505792" y="748764"/>
            <a:ext cx="382668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b="1" spc="0" baseline="0" dirty="0">
                <a:ln/>
                <a:solidFill>
                  <a:srgbClr val="002060"/>
                </a:solidFill>
                <a:latin typeface="+mn-ea"/>
                <a:sym typeface="ＭＳ ゴシック"/>
                <a:rtl val="0"/>
              </a:rPr>
              <a:t>閉域</a:t>
            </a:r>
            <a:r>
              <a:rPr lang="ja-JP" altLang="en-US" sz="900" b="1" spc="0" baseline="0" dirty="0">
                <a:ln/>
                <a:solidFill>
                  <a:srgbClr val="002060"/>
                </a:solidFill>
                <a:latin typeface="+mn-ea"/>
                <a:cs typeface="Arial"/>
                <a:sym typeface="Arial"/>
                <a:rtl val="0"/>
              </a:rPr>
              <a:t>PPF AZURE </a:t>
            </a:r>
            <a:r>
              <a:rPr lang="ja-JP" altLang="en-US" sz="900" b="1" spc="0" baseline="0" dirty="0">
                <a:ln/>
                <a:solidFill>
                  <a:srgbClr val="002060"/>
                </a:solidFill>
                <a:latin typeface="+mn-ea"/>
                <a:cs typeface="Arial"/>
                <a:sym typeface="ＭＳ ゴシック"/>
                <a:rtl val="0"/>
              </a:rPr>
              <a:t>サブスク</a:t>
            </a:r>
            <a:r>
              <a:rPr lang="ja-JP" altLang="en-US" sz="900" b="1" spc="0" baseline="0" dirty="0">
                <a:ln/>
                <a:solidFill>
                  <a:srgbClr val="002060"/>
                </a:solidFill>
                <a:latin typeface="+mn-ea"/>
                <a:cs typeface="Arial"/>
                <a:sym typeface="Arial"/>
                <a:rtl val="0"/>
              </a:rPr>
              <a:t> </a:t>
            </a:r>
            <a:r>
              <a:rPr lang="ja-JP" altLang="en-US" sz="900" spc="0" baseline="0" dirty="0">
                <a:ln/>
                <a:solidFill>
                  <a:srgbClr val="2D3436"/>
                </a:solidFill>
                <a:latin typeface="+mn-ea"/>
                <a:cs typeface="Arial"/>
                <a:sym typeface="Arial"/>
                <a:rtl val="0"/>
              </a:rPr>
              <a:t>(PPF_SUBSCRIPTION_ID) / rg-privateppf</a:t>
            </a:r>
          </a:p>
        </p:txBody>
      </p:sp>
      <p:grpSp>
        <p:nvGrpSpPr>
          <p:cNvPr id="12" name="グラフィックス 4">
            <a:extLst>
              <a:ext uri="{FF2B5EF4-FFF2-40B4-BE49-F238E27FC236}">
                <a16:creationId xmlns:a16="http://schemas.microsoft.com/office/drawing/2014/main" id="{CA2C15F5-AD47-5423-5764-5E475287ADEF}"/>
              </a:ext>
            </a:extLst>
          </p:cNvPr>
          <p:cNvGrpSpPr/>
          <p:nvPr/>
        </p:nvGrpSpPr>
        <p:grpSpPr>
          <a:xfrm>
            <a:off x="3943996" y="1077843"/>
            <a:ext cx="3622907" cy="2767511"/>
            <a:chOff x="3943996" y="1077843"/>
            <a:chExt cx="3622907" cy="2767511"/>
          </a:xfrm>
        </p:grpSpPr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4E12168-E9AD-0996-3294-6D0287DC4AF6}"/>
                </a:ext>
              </a:extLst>
            </p:cNvPr>
            <p:cNvSpPr/>
            <p:nvPr/>
          </p:nvSpPr>
          <p:spPr>
            <a:xfrm>
              <a:off x="3949961" y="1091107"/>
              <a:ext cx="3616942" cy="2754247"/>
            </a:xfrm>
            <a:custGeom>
              <a:avLst/>
              <a:gdLst>
                <a:gd name="csX0" fmla="*/ 85852 w 2947532"/>
                <a:gd name="csY0" fmla="*/ 2755053 h 2754247"/>
                <a:gd name="csX1" fmla="*/ 2861767 w 2947532"/>
                <a:gd name="csY1" fmla="*/ 2755053 h 2754247"/>
                <a:gd name="csX2" fmla="*/ 2947576 w 2947532"/>
                <a:gd name="csY2" fmla="*/ 2669207 h 2754247"/>
                <a:gd name="csX3" fmla="*/ 2947576 w 2947532"/>
                <a:gd name="csY3" fmla="*/ 86652 h 2754247"/>
                <a:gd name="csX4" fmla="*/ 2861767 w 2947532"/>
                <a:gd name="csY4" fmla="*/ 805 h 2754247"/>
                <a:gd name="csX5" fmla="*/ 85852 w 2947532"/>
                <a:gd name="csY5" fmla="*/ 805 h 2754247"/>
                <a:gd name="csX6" fmla="*/ 43 w 2947532"/>
                <a:gd name="csY6" fmla="*/ 86652 h 2754247"/>
                <a:gd name="csX7" fmla="*/ 43 w 2947532"/>
                <a:gd name="csY7" fmla="*/ 2669207 h 2754247"/>
                <a:gd name="csX8" fmla="*/ 85852 w 2947532"/>
                <a:gd name="csY8" fmla="*/ 2755053 h 27542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947532" h="2754247">
                  <a:moveTo>
                    <a:pt x="85852" y="2755053"/>
                  </a:moveTo>
                  <a:cubicBezTo>
                    <a:pt x="85852" y="2755053"/>
                    <a:pt x="2861767" y="2755053"/>
                    <a:pt x="2861767" y="2755053"/>
                  </a:cubicBezTo>
                  <a:cubicBezTo>
                    <a:pt x="2904671" y="2755053"/>
                    <a:pt x="2947576" y="2712130"/>
                    <a:pt x="2947576" y="2669207"/>
                  </a:cubicBezTo>
                  <a:cubicBezTo>
                    <a:pt x="2947576" y="2669207"/>
                    <a:pt x="2947576" y="86652"/>
                    <a:pt x="2947576" y="86652"/>
                  </a:cubicBezTo>
                  <a:cubicBezTo>
                    <a:pt x="2947576" y="43729"/>
                    <a:pt x="2904671" y="805"/>
                    <a:pt x="2861767" y="805"/>
                  </a:cubicBezTo>
                  <a:cubicBezTo>
                    <a:pt x="2861767" y="805"/>
                    <a:pt x="85852" y="805"/>
                    <a:pt x="85852" y="805"/>
                  </a:cubicBezTo>
                  <a:cubicBezTo>
                    <a:pt x="42948" y="805"/>
                    <a:pt x="43" y="43729"/>
                    <a:pt x="43" y="86652"/>
                  </a:cubicBezTo>
                  <a:cubicBezTo>
                    <a:pt x="43" y="86652"/>
                    <a:pt x="43" y="2669207"/>
                    <a:pt x="43" y="2669207"/>
                  </a:cubicBezTo>
                  <a:cubicBezTo>
                    <a:pt x="43" y="2712130"/>
                    <a:pt x="42948" y="2755053"/>
                    <a:pt x="85852" y="2755053"/>
                  </a:cubicBezTo>
                </a:path>
              </a:pathLst>
            </a:custGeom>
            <a:solidFill>
              <a:srgbClr val="EBF3E7"/>
            </a:solidFill>
            <a:ln w="7151" cap="flat">
              <a:solidFill>
                <a:srgbClr val="AEB6B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482E1B1-8A4C-9C33-5509-FA1BC38E01F8}"/>
                </a:ext>
              </a:extLst>
            </p:cNvPr>
            <p:cNvSpPr txBox="1"/>
            <p:nvPr/>
          </p:nvSpPr>
          <p:spPr>
            <a:xfrm>
              <a:off x="3943996" y="1077843"/>
              <a:ext cx="29841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vnet-ppf-eastus (10.10.0.0/16)</a:t>
              </a:r>
              <a:r>
                <a:rPr lang="ja-JP" altLang="en-US" sz="90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ja-JP" altLang="en-US" sz="900" b="1" dirty="0">
                  <a:ln/>
                  <a:solidFill>
                    <a:srgbClr val="002060"/>
                  </a:solidFill>
                  <a:latin typeface="Arial"/>
                  <a:cs typeface="Arial"/>
                  <a:sym typeface="Arial"/>
                  <a:rtl val="0"/>
                </a:rPr>
                <a:t>米国東</a:t>
              </a:r>
              <a:endParaRPr lang="ja-JP" altLang="en-US" sz="900" b="1" spc="0" baseline="0" dirty="0">
                <a:ln/>
                <a:solidFill>
                  <a:srgbClr val="00206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grpSp>
        <p:nvGrpSpPr>
          <p:cNvPr id="15" name="グラフィックス 4">
            <a:extLst>
              <a:ext uri="{FF2B5EF4-FFF2-40B4-BE49-F238E27FC236}">
                <a16:creationId xmlns:a16="http://schemas.microsoft.com/office/drawing/2014/main" id="{5382E644-95CF-E0FA-4E8F-6635CE1BB6D1}"/>
              </a:ext>
            </a:extLst>
          </p:cNvPr>
          <p:cNvGrpSpPr/>
          <p:nvPr/>
        </p:nvGrpSpPr>
        <p:grpSpPr>
          <a:xfrm>
            <a:off x="3979638" y="4118467"/>
            <a:ext cx="3616942" cy="1486966"/>
            <a:chOff x="6062076" y="3953707"/>
            <a:chExt cx="1534504" cy="1486966"/>
          </a:xfrm>
        </p:grpSpPr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251E2D09-26E6-89B2-38DB-6DFA315D8B5D}"/>
                </a:ext>
              </a:extLst>
            </p:cNvPr>
            <p:cNvSpPr/>
            <p:nvPr/>
          </p:nvSpPr>
          <p:spPr>
            <a:xfrm>
              <a:off x="6062076" y="3966972"/>
              <a:ext cx="1534504" cy="1473701"/>
            </a:xfrm>
            <a:custGeom>
              <a:avLst/>
              <a:gdLst>
                <a:gd name="csX0" fmla="*/ 85852 w 1305008"/>
                <a:gd name="csY0" fmla="*/ 1474507 h 1473701"/>
                <a:gd name="csX1" fmla="*/ 1219243 w 1305008"/>
                <a:gd name="csY1" fmla="*/ 1474507 h 1473701"/>
                <a:gd name="csX2" fmla="*/ 1305052 w 1305008"/>
                <a:gd name="csY2" fmla="*/ 1388660 h 1473701"/>
                <a:gd name="csX3" fmla="*/ 1305052 w 1305008"/>
                <a:gd name="csY3" fmla="*/ 86652 h 1473701"/>
                <a:gd name="csX4" fmla="*/ 1219243 w 1305008"/>
                <a:gd name="csY4" fmla="*/ 805 h 1473701"/>
                <a:gd name="csX5" fmla="*/ 85852 w 1305008"/>
                <a:gd name="csY5" fmla="*/ 805 h 1473701"/>
                <a:gd name="csX6" fmla="*/ 43 w 1305008"/>
                <a:gd name="csY6" fmla="*/ 86652 h 1473701"/>
                <a:gd name="csX7" fmla="*/ 43 w 1305008"/>
                <a:gd name="csY7" fmla="*/ 1388660 h 1473701"/>
                <a:gd name="csX8" fmla="*/ 85852 w 1305008"/>
                <a:gd name="csY8" fmla="*/ 1474507 h 1473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05008" h="1473701">
                  <a:moveTo>
                    <a:pt x="85852" y="1474507"/>
                  </a:moveTo>
                  <a:cubicBezTo>
                    <a:pt x="85852" y="1474507"/>
                    <a:pt x="1219243" y="1474507"/>
                    <a:pt x="1219243" y="1474507"/>
                  </a:cubicBezTo>
                  <a:cubicBezTo>
                    <a:pt x="1262148" y="1474507"/>
                    <a:pt x="1305052" y="1431583"/>
                    <a:pt x="1305052" y="1388660"/>
                  </a:cubicBezTo>
                  <a:cubicBezTo>
                    <a:pt x="1305052" y="1388660"/>
                    <a:pt x="1305052" y="86652"/>
                    <a:pt x="1305052" y="86652"/>
                  </a:cubicBezTo>
                  <a:cubicBezTo>
                    <a:pt x="1305052" y="43729"/>
                    <a:pt x="1262148" y="805"/>
                    <a:pt x="1219243" y="805"/>
                  </a:cubicBezTo>
                  <a:cubicBezTo>
                    <a:pt x="1219243" y="805"/>
                    <a:pt x="85852" y="805"/>
                    <a:pt x="85852" y="805"/>
                  </a:cubicBezTo>
                  <a:cubicBezTo>
                    <a:pt x="42948" y="805"/>
                    <a:pt x="43" y="43729"/>
                    <a:pt x="43" y="86652"/>
                  </a:cubicBezTo>
                  <a:cubicBezTo>
                    <a:pt x="43" y="86652"/>
                    <a:pt x="43" y="1388660"/>
                    <a:pt x="43" y="1388660"/>
                  </a:cubicBezTo>
                  <a:cubicBezTo>
                    <a:pt x="43" y="1431583"/>
                    <a:pt x="42948" y="1474507"/>
                    <a:pt x="85852" y="1474507"/>
                  </a:cubicBezTo>
                </a:path>
              </a:pathLst>
            </a:custGeom>
            <a:solidFill>
              <a:srgbClr val="EBF3E7"/>
            </a:solidFill>
            <a:ln w="7151" cap="flat">
              <a:solidFill>
                <a:srgbClr val="AEB6B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1848240-F43D-ABFB-8498-30684D7C6333}"/>
                </a:ext>
              </a:extLst>
            </p:cNvPr>
            <p:cNvSpPr txBox="1"/>
            <p:nvPr/>
          </p:nvSpPr>
          <p:spPr>
            <a:xfrm>
              <a:off x="6081251" y="3953707"/>
              <a:ext cx="14448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vnet-ppf-westus</a:t>
              </a:r>
              <a:r>
                <a:rPr lang="ja-JP" altLang="en-US" sz="90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 </a:t>
              </a:r>
              <a:r>
                <a:rPr lang="ja-JP" altLang="en-US" sz="900" b="1" dirty="0">
                  <a:ln/>
                  <a:solidFill>
                    <a:srgbClr val="002060"/>
                  </a:solidFill>
                  <a:latin typeface="Arial"/>
                  <a:cs typeface="Arial"/>
                  <a:sym typeface="Arial"/>
                  <a:rtl val="0"/>
                </a:rPr>
                <a:t>米国西</a:t>
              </a:r>
              <a:endParaRPr lang="en-US" altLang="ja-JP" sz="900" b="1" spc="0" baseline="0" dirty="0">
                <a:ln/>
                <a:solidFill>
                  <a:srgbClr val="002060"/>
                </a:solidFill>
                <a:latin typeface="Arial"/>
                <a:cs typeface="Arial"/>
                <a:sym typeface="Arial"/>
                <a:rtl val="0"/>
              </a:endParaRPr>
            </a:p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 (10.20.0.0/16)</a:t>
              </a:r>
            </a:p>
          </p:txBody>
        </p:sp>
      </p:grpSp>
      <p:grpSp>
        <p:nvGrpSpPr>
          <p:cNvPr id="18" name="グラフィックス 4">
            <a:extLst>
              <a:ext uri="{FF2B5EF4-FFF2-40B4-BE49-F238E27FC236}">
                <a16:creationId xmlns:a16="http://schemas.microsoft.com/office/drawing/2014/main" id="{AD3D4299-C55B-901D-62F3-B7A1ADBC7802}"/>
              </a:ext>
            </a:extLst>
          </p:cNvPr>
          <p:cNvGrpSpPr/>
          <p:nvPr/>
        </p:nvGrpSpPr>
        <p:grpSpPr>
          <a:xfrm>
            <a:off x="8935738" y="766120"/>
            <a:ext cx="2949495" cy="2028916"/>
            <a:chOff x="8935738" y="593125"/>
            <a:chExt cx="2949495" cy="2028916"/>
          </a:xfrm>
        </p:grpSpPr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E21F6981-EEB3-F3E1-4489-3553C73EA31A}"/>
                </a:ext>
              </a:extLst>
            </p:cNvPr>
            <p:cNvSpPr/>
            <p:nvPr/>
          </p:nvSpPr>
          <p:spPr>
            <a:xfrm>
              <a:off x="8987399" y="593125"/>
              <a:ext cx="2897834" cy="2028916"/>
            </a:xfrm>
            <a:custGeom>
              <a:avLst/>
              <a:gdLst>
                <a:gd name="csX0" fmla="*/ 85852 w 2897834"/>
                <a:gd name="csY0" fmla="*/ 1767816 h 1767011"/>
                <a:gd name="csX1" fmla="*/ 2812069 w 2897834"/>
                <a:gd name="csY1" fmla="*/ 1767816 h 1767011"/>
                <a:gd name="csX2" fmla="*/ 2897878 w 2897834"/>
                <a:gd name="csY2" fmla="*/ 1681970 h 1767011"/>
                <a:gd name="csX3" fmla="*/ 2897878 w 2897834"/>
                <a:gd name="csY3" fmla="*/ 86652 h 1767011"/>
                <a:gd name="csX4" fmla="*/ 2812069 w 2897834"/>
                <a:gd name="csY4" fmla="*/ 805 h 1767011"/>
                <a:gd name="csX5" fmla="*/ 85852 w 2897834"/>
                <a:gd name="csY5" fmla="*/ 805 h 1767011"/>
                <a:gd name="csX6" fmla="*/ 43 w 2897834"/>
                <a:gd name="csY6" fmla="*/ 86652 h 1767011"/>
                <a:gd name="csX7" fmla="*/ 43 w 2897834"/>
                <a:gd name="csY7" fmla="*/ 1681970 h 1767011"/>
                <a:gd name="csX8" fmla="*/ 85852 w 2897834"/>
                <a:gd name="csY8" fmla="*/ 1767816 h 17670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97834" h="1767011">
                  <a:moveTo>
                    <a:pt x="85852" y="1767816"/>
                  </a:moveTo>
                  <a:cubicBezTo>
                    <a:pt x="85852" y="1767816"/>
                    <a:pt x="2812069" y="1767816"/>
                    <a:pt x="2812069" y="1767816"/>
                  </a:cubicBezTo>
                  <a:cubicBezTo>
                    <a:pt x="2854974" y="1767816"/>
                    <a:pt x="2897878" y="1724893"/>
                    <a:pt x="2897878" y="1681970"/>
                  </a:cubicBezTo>
                  <a:cubicBezTo>
                    <a:pt x="2897878" y="1681970"/>
                    <a:pt x="2897878" y="86652"/>
                    <a:pt x="2897878" y="86652"/>
                  </a:cubicBezTo>
                  <a:cubicBezTo>
                    <a:pt x="2897878" y="43729"/>
                    <a:pt x="2854974" y="805"/>
                    <a:pt x="2812069" y="805"/>
                  </a:cubicBezTo>
                  <a:cubicBezTo>
                    <a:pt x="2812069" y="805"/>
                    <a:pt x="85852" y="805"/>
                    <a:pt x="85852" y="805"/>
                  </a:cubicBezTo>
                  <a:cubicBezTo>
                    <a:pt x="42948" y="805"/>
                    <a:pt x="43" y="43729"/>
                    <a:pt x="43" y="86652"/>
                  </a:cubicBezTo>
                  <a:cubicBezTo>
                    <a:pt x="43" y="86652"/>
                    <a:pt x="43" y="1681970"/>
                    <a:pt x="43" y="1681970"/>
                  </a:cubicBezTo>
                  <a:cubicBezTo>
                    <a:pt x="43" y="1724893"/>
                    <a:pt x="42948" y="1767816"/>
                    <a:pt x="85852" y="1767816"/>
                  </a:cubicBezTo>
                </a:path>
              </a:pathLst>
            </a:custGeom>
            <a:solidFill>
              <a:srgbClr val="FFE6CC"/>
            </a:solidFill>
            <a:ln w="14301" cap="flat">
              <a:solidFill>
                <a:srgbClr val="D79B00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90DA4E0E-2496-792E-DCB8-95FC61BDE1DE}"/>
                </a:ext>
              </a:extLst>
            </p:cNvPr>
            <p:cNvSpPr txBox="1"/>
            <p:nvPr/>
          </p:nvSpPr>
          <p:spPr>
            <a:xfrm>
              <a:off x="8935738" y="602862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b="1" spc="0" baseline="0" dirty="0">
                  <a:ln/>
                  <a:solidFill>
                    <a:schemeClr val="accent2">
                      <a:lumMod val="50000"/>
                    </a:schemeClr>
                  </a:solidFill>
                  <a:latin typeface="ＭＳ ゴシック"/>
                  <a:ea typeface="ＭＳ ゴシック"/>
                  <a:sym typeface="ＭＳ ゴシック"/>
                  <a:rtl val="0"/>
                </a:rPr>
                <a:t>連携元</a:t>
              </a:r>
              <a:r>
                <a:rPr lang="ja-JP" altLang="en-US" sz="900" b="1" spc="0" baseline="0" dirty="0">
                  <a:ln/>
                  <a:solidFill>
                    <a:schemeClr val="accent2">
                      <a:lumMod val="50000"/>
                    </a:schemeClr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 AZURE </a:t>
              </a:r>
              <a:r>
                <a:rPr lang="ja-JP" altLang="en-US" sz="900" b="1" spc="0" baseline="0" dirty="0">
                  <a:ln/>
                  <a:solidFill>
                    <a:schemeClr val="accent2">
                      <a:lumMod val="50000"/>
                    </a:schemeClr>
                  </a:solidFill>
                  <a:latin typeface="ＭＳ ゴシック"/>
                  <a:ea typeface="ＭＳ ゴシック"/>
                  <a:cs typeface="Arial"/>
                  <a:sym typeface="ＭＳ ゴシック"/>
                  <a:rtl val="0"/>
                </a:rPr>
                <a:t>サブスク</a:t>
              </a:r>
              <a:r>
                <a:rPr lang="ja-JP" altLang="en-US" sz="900" b="1" spc="0" baseline="0" dirty="0">
                  <a:ln/>
                  <a:solidFill>
                    <a:schemeClr val="accent2">
                      <a:lumMod val="50000"/>
                    </a:schemeClr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 </a:t>
              </a:r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(SRC_SUBSCRIPTION_ID) </a:t>
              </a:r>
              <a:endParaRPr lang="en-US" altLang="ja-JP" sz="900" spc="0" baseline="0" dirty="0">
                <a:ln/>
                <a:solidFill>
                  <a:srgbClr val="2D3436"/>
                </a:solidFill>
                <a:latin typeface="Arial"/>
                <a:ea typeface="ＭＳ ゴシック"/>
                <a:cs typeface="Arial"/>
                <a:sym typeface="Arial"/>
                <a:rtl val="0"/>
              </a:endParaRPr>
            </a:p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 rg-mcps / japaneast</a:t>
              </a:r>
            </a:p>
          </p:txBody>
        </p:sp>
      </p:grpSp>
      <p:grpSp>
        <p:nvGrpSpPr>
          <p:cNvPr id="21" name="グラフィックス 4">
            <a:extLst>
              <a:ext uri="{FF2B5EF4-FFF2-40B4-BE49-F238E27FC236}">
                <a16:creationId xmlns:a16="http://schemas.microsoft.com/office/drawing/2014/main" id="{161C56A6-5200-C41E-9BDE-820FCF428E96}"/>
              </a:ext>
            </a:extLst>
          </p:cNvPr>
          <p:cNvGrpSpPr/>
          <p:nvPr/>
        </p:nvGrpSpPr>
        <p:grpSpPr>
          <a:xfrm>
            <a:off x="9083073" y="1250838"/>
            <a:ext cx="2653782" cy="1486965"/>
            <a:chOff x="9083073" y="1077843"/>
            <a:chExt cx="2653782" cy="1486965"/>
          </a:xfrm>
        </p:grpSpPr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17B919C1-BCB0-67B4-6627-02F0AC27CFEF}"/>
                </a:ext>
              </a:extLst>
            </p:cNvPr>
            <p:cNvSpPr/>
            <p:nvPr/>
          </p:nvSpPr>
          <p:spPr>
            <a:xfrm>
              <a:off x="9128626" y="1091107"/>
              <a:ext cx="2608229" cy="1473701"/>
            </a:xfrm>
            <a:custGeom>
              <a:avLst/>
              <a:gdLst>
                <a:gd name="csX0" fmla="*/ 85852 w 2608229"/>
                <a:gd name="csY0" fmla="*/ 1474507 h 1473701"/>
                <a:gd name="csX1" fmla="*/ 2522464 w 2608229"/>
                <a:gd name="csY1" fmla="*/ 1474507 h 1473701"/>
                <a:gd name="csX2" fmla="*/ 2608273 w 2608229"/>
                <a:gd name="csY2" fmla="*/ 1388660 h 1473701"/>
                <a:gd name="csX3" fmla="*/ 2608273 w 2608229"/>
                <a:gd name="csY3" fmla="*/ 86652 h 1473701"/>
                <a:gd name="csX4" fmla="*/ 2522464 w 2608229"/>
                <a:gd name="csY4" fmla="*/ 805 h 1473701"/>
                <a:gd name="csX5" fmla="*/ 85852 w 2608229"/>
                <a:gd name="csY5" fmla="*/ 805 h 1473701"/>
                <a:gd name="csX6" fmla="*/ 43 w 2608229"/>
                <a:gd name="csY6" fmla="*/ 86652 h 1473701"/>
                <a:gd name="csX7" fmla="*/ 43 w 2608229"/>
                <a:gd name="csY7" fmla="*/ 1388660 h 1473701"/>
                <a:gd name="csX8" fmla="*/ 85852 w 2608229"/>
                <a:gd name="csY8" fmla="*/ 1474507 h 1473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608229" h="1473701">
                  <a:moveTo>
                    <a:pt x="85852" y="1474507"/>
                  </a:moveTo>
                  <a:cubicBezTo>
                    <a:pt x="85852" y="1474507"/>
                    <a:pt x="2522464" y="1474507"/>
                    <a:pt x="2522464" y="1474507"/>
                  </a:cubicBezTo>
                  <a:cubicBezTo>
                    <a:pt x="2565369" y="1474507"/>
                    <a:pt x="2608273" y="1431584"/>
                    <a:pt x="2608273" y="1388660"/>
                  </a:cubicBezTo>
                  <a:cubicBezTo>
                    <a:pt x="2608273" y="1388660"/>
                    <a:pt x="2608273" y="86652"/>
                    <a:pt x="2608273" y="86652"/>
                  </a:cubicBezTo>
                  <a:cubicBezTo>
                    <a:pt x="2608273" y="43729"/>
                    <a:pt x="2565369" y="805"/>
                    <a:pt x="2522464" y="805"/>
                  </a:cubicBezTo>
                  <a:cubicBezTo>
                    <a:pt x="2522464" y="805"/>
                    <a:pt x="85852" y="805"/>
                    <a:pt x="85852" y="805"/>
                  </a:cubicBezTo>
                  <a:cubicBezTo>
                    <a:pt x="42948" y="805"/>
                    <a:pt x="43" y="43729"/>
                    <a:pt x="43" y="86652"/>
                  </a:cubicBezTo>
                  <a:cubicBezTo>
                    <a:pt x="43" y="86652"/>
                    <a:pt x="43" y="1388660"/>
                    <a:pt x="43" y="1388660"/>
                  </a:cubicBezTo>
                  <a:cubicBezTo>
                    <a:pt x="43" y="1431584"/>
                    <a:pt x="42948" y="1474507"/>
                    <a:pt x="85852" y="1474507"/>
                  </a:cubicBezTo>
                </a:path>
              </a:pathLst>
            </a:custGeom>
            <a:solidFill>
              <a:srgbClr val="EBF3E7"/>
            </a:solidFill>
            <a:ln w="14301" cap="flat">
              <a:solidFill>
                <a:srgbClr val="AEB6BE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131C905-DDBF-90CF-3D65-1AEF8669F6A8}"/>
                </a:ext>
              </a:extLst>
            </p:cNvPr>
            <p:cNvSpPr txBox="1"/>
            <p:nvPr/>
          </p:nvSpPr>
          <p:spPr>
            <a:xfrm>
              <a:off x="9083073" y="1077843"/>
              <a:ext cx="2492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Container Apps </a:t>
              </a:r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ＭＳ ゴシック"/>
                  <a:ea typeface="ＭＳ ゴシック"/>
                  <a:cs typeface="Arial"/>
                  <a:sym typeface="ＭＳ ゴシック"/>
                  <a:rtl val="0"/>
                </a:rPr>
                <a:t>環境</a:t>
              </a:r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 </a:t>
              </a:r>
              <a:endParaRPr lang="en-US" altLang="ja-JP" sz="900" spc="0" baseline="0" dirty="0">
                <a:ln/>
                <a:solidFill>
                  <a:srgbClr val="2D3436"/>
                </a:solidFill>
                <a:latin typeface="Arial"/>
                <a:ea typeface="ＭＳ ゴシック"/>
                <a:cs typeface="Arial"/>
                <a:sym typeface="Arial"/>
                <a:rtl val="0"/>
              </a:endParaRPr>
            </a:p>
            <a:p>
              <a:pPr algn="l"/>
              <a:r>
                <a:rPr lang="ja-JP" altLang="en-US" sz="900" spc="0" baseline="0" dirty="0">
                  <a:ln/>
                  <a:solidFill>
                    <a:srgbClr val="2D3436"/>
                  </a:solidFill>
                  <a:latin typeface="Arial"/>
                  <a:ea typeface="ＭＳ ゴシック"/>
                  <a:cs typeface="Arial"/>
                  <a:sym typeface="Arial"/>
                  <a:rtl val="0"/>
                </a:rPr>
                <a:t>(Workload Profiles / Public Access: Disabled)</a:t>
              </a:r>
            </a:p>
          </p:txBody>
        </p:sp>
      </p:grpSp>
      <p:pic>
        <p:nvPicPr>
          <p:cNvPr id="25" name="図 24">
            <a:extLst>
              <a:ext uri="{FF2B5EF4-FFF2-40B4-BE49-F238E27FC236}">
                <a16:creationId xmlns:a16="http://schemas.microsoft.com/office/drawing/2014/main" id="{175E60D0-9EF0-4CA0-ECA6-06C4E0A49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78" y="1643614"/>
            <a:ext cx="720793" cy="721112"/>
          </a:xfrm>
          <a:custGeom>
            <a:avLst/>
            <a:gdLst>
              <a:gd name="csX0" fmla="*/ 43 w 720793"/>
              <a:gd name="csY0" fmla="*/ 805 h 721112"/>
              <a:gd name="csX1" fmla="*/ 720837 w 720793"/>
              <a:gd name="csY1" fmla="*/ 805 h 721112"/>
              <a:gd name="csX2" fmla="*/ 720837 w 720793"/>
              <a:gd name="csY2" fmla="*/ 721917 h 721112"/>
              <a:gd name="csX3" fmla="*/ 43 w 720793"/>
              <a:gd name="csY3" fmla="*/ 721917 h 721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0793" h="721112">
                <a:moveTo>
                  <a:pt x="43" y="805"/>
                </a:moveTo>
                <a:lnTo>
                  <a:pt x="720837" y="805"/>
                </a:lnTo>
                <a:lnTo>
                  <a:pt x="720837" y="721917"/>
                </a:lnTo>
                <a:lnTo>
                  <a:pt x="43" y="721917"/>
                </a:lnTo>
                <a:close/>
              </a:path>
            </a:pathLst>
          </a:cu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229EAD2-59D7-1278-2868-8E81AC730991}"/>
              </a:ext>
            </a:extLst>
          </p:cNvPr>
          <p:cNvSpPr txBox="1"/>
          <p:nvPr/>
        </p:nvSpPr>
        <p:spPr>
          <a:xfrm>
            <a:off x="4310337" y="2268028"/>
            <a:ext cx="1035674" cy="195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snet-pe 10.10.2.0/27</a:t>
            </a:r>
          </a:p>
        </p:txBody>
      </p:sp>
      <p:grpSp>
        <p:nvGrpSpPr>
          <p:cNvPr id="27" name="グラフィックス 4">
            <a:extLst>
              <a:ext uri="{FF2B5EF4-FFF2-40B4-BE49-F238E27FC236}">
                <a16:creationId xmlns:a16="http://schemas.microsoft.com/office/drawing/2014/main" id="{72CB576D-AA45-490F-3521-DC1599AB4400}"/>
              </a:ext>
            </a:extLst>
          </p:cNvPr>
          <p:cNvGrpSpPr/>
          <p:nvPr/>
        </p:nvGrpSpPr>
        <p:grpSpPr>
          <a:xfrm>
            <a:off x="6235203" y="1553213"/>
            <a:ext cx="1410597" cy="942953"/>
            <a:chOff x="6235203" y="1553213"/>
            <a:chExt cx="1410597" cy="942953"/>
          </a:xfrm>
          <a:solidFill>
            <a:srgbClr val="2D3436"/>
          </a:solidFill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670B2D5E-D1D8-4BB2-0816-19A9125A9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0104" y="1553213"/>
              <a:ext cx="720793" cy="721112"/>
            </a:xfrm>
            <a:custGeom>
              <a:avLst/>
              <a:gdLst>
                <a:gd name="csX0" fmla="*/ 43 w 720793"/>
                <a:gd name="csY0" fmla="*/ 805 h 721112"/>
                <a:gd name="csX1" fmla="*/ 720837 w 720793"/>
                <a:gd name="csY1" fmla="*/ 805 h 721112"/>
                <a:gd name="csX2" fmla="*/ 720837 w 720793"/>
                <a:gd name="csY2" fmla="*/ 721917 h 721112"/>
                <a:gd name="csX3" fmla="*/ 43 w 720793"/>
                <a:gd name="csY3" fmla="*/ 721917 h 721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0793" h="721112">
                  <a:moveTo>
                    <a:pt x="43" y="805"/>
                  </a:moveTo>
                  <a:lnTo>
                    <a:pt x="720837" y="805"/>
                  </a:lnTo>
                  <a:lnTo>
                    <a:pt x="720837" y="721917"/>
                  </a:lnTo>
                  <a:lnTo>
                    <a:pt x="43" y="721917"/>
                  </a:lnTo>
                  <a:close/>
                </a:path>
              </a:pathLst>
            </a:custGeom>
          </p:spPr>
        </p:pic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30235EB-B449-C82F-889C-0BDB4D175C11}"/>
                </a:ext>
              </a:extLst>
            </p:cNvPr>
            <p:cNvSpPr txBox="1"/>
            <p:nvPr/>
          </p:nvSpPr>
          <p:spPr>
            <a:xfrm>
              <a:off x="6507998" y="2228508"/>
              <a:ext cx="865006" cy="195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75" spc="0" baseline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Private Endpoint</a:t>
              </a: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C37136C1-0A00-38E0-C083-8D6E79BD3B7D}"/>
                </a:ext>
              </a:extLst>
            </p:cNvPr>
            <p:cNvSpPr txBox="1"/>
            <p:nvPr/>
          </p:nvSpPr>
          <p:spPr>
            <a:xfrm>
              <a:off x="6143763" y="2346548"/>
              <a:ext cx="1593477" cy="195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75" spc="0" baseline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(group-id: managedEnvironments)</a:t>
              </a:r>
            </a:p>
          </p:txBody>
        </p:sp>
      </p:grpSp>
      <p:grpSp>
        <p:nvGrpSpPr>
          <p:cNvPr id="32" name="グラフィックス 4">
            <a:extLst>
              <a:ext uri="{FF2B5EF4-FFF2-40B4-BE49-F238E27FC236}">
                <a16:creationId xmlns:a16="http://schemas.microsoft.com/office/drawing/2014/main" id="{4264912A-A692-CC24-175A-A384E254D6D1}"/>
              </a:ext>
            </a:extLst>
          </p:cNvPr>
          <p:cNvGrpSpPr/>
          <p:nvPr/>
        </p:nvGrpSpPr>
        <p:grpSpPr>
          <a:xfrm>
            <a:off x="10028812" y="1726208"/>
            <a:ext cx="800777" cy="942953"/>
            <a:chOff x="10028812" y="1553213"/>
            <a:chExt cx="800777" cy="942953"/>
          </a:xfrm>
          <a:solidFill>
            <a:srgbClr val="2D3436"/>
          </a:solidFill>
        </p:grpSpPr>
        <p:pic>
          <p:nvPicPr>
            <p:cNvPr id="33" name="図 32">
              <a:extLst>
                <a:ext uri="{FF2B5EF4-FFF2-40B4-BE49-F238E27FC236}">
                  <a16:creationId xmlns:a16="http://schemas.microsoft.com/office/drawing/2014/main" id="{D10E67BF-D59A-F358-55C2-F8B107347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68804" y="1553213"/>
              <a:ext cx="720793" cy="721112"/>
            </a:xfrm>
            <a:custGeom>
              <a:avLst/>
              <a:gdLst>
                <a:gd name="csX0" fmla="*/ 43 w 720793"/>
                <a:gd name="csY0" fmla="*/ 805 h 721112"/>
                <a:gd name="csX1" fmla="*/ 720838 w 720793"/>
                <a:gd name="csY1" fmla="*/ 805 h 721112"/>
                <a:gd name="csX2" fmla="*/ 720838 w 720793"/>
                <a:gd name="csY2" fmla="*/ 721917 h 721112"/>
                <a:gd name="csX3" fmla="*/ 43 w 720793"/>
                <a:gd name="csY3" fmla="*/ 721917 h 7211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0793" h="721112">
                  <a:moveTo>
                    <a:pt x="43" y="805"/>
                  </a:moveTo>
                  <a:lnTo>
                    <a:pt x="720838" y="805"/>
                  </a:lnTo>
                  <a:lnTo>
                    <a:pt x="720838" y="721917"/>
                  </a:lnTo>
                  <a:lnTo>
                    <a:pt x="43" y="721917"/>
                  </a:lnTo>
                  <a:close/>
                </a:path>
              </a:pathLst>
            </a:custGeom>
          </p:spPr>
        </p:pic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42043BFF-DA7C-9413-737B-680F50FB9B89}"/>
                </a:ext>
              </a:extLst>
            </p:cNvPr>
            <p:cNvSpPr txBox="1"/>
            <p:nvPr/>
          </p:nvSpPr>
          <p:spPr>
            <a:xfrm>
              <a:off x="9937372" y="2228508"/>
              <a:ext cx="983657" cy="195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75" spc="0" baseline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contoso-policy-mcp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58D226E-5AE7-EB84-B359-02D01341B6BE}"/>
                </a:ext>
              </a:extLst>
            </p:cNvPr>
            <p:cNvSpPr txBox="1"/>
            <p:nvPr/>
          </p:nvSpPr>
          <p:spPr>
            <a:xfrm>
              <a:off x="10076970" y="2346548"/>
              <a:ext cx="704461" cy="1953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ja-JP" altLang="en-US" sz="975" spc="0" baseline="0">
                  <a:ln/>
                  <a:solidFill>
                    <a:srgbClr val="2D3436"/>
                  </a:solidFill>
                  <a:latin typeface="Arial"/>
                  <a:cs typeface="Arial"/>
                  <a:sym typeface="Arial"/>
                  <a:rtl val="0"/>
                </a:rPr>
                <a:t>(MCP: /mcp)</a:t>
              </a:r>
            </a:p>
          </p:txBody>
        </p:sp>
      </p:grp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2AAB634-2ABC-C4BB-A9D2-B0486F126B47}"/>
              </a:ext>
            </a:extLst>
          </p:cNvPr>
          <p:cNvSpPr txBox="1"/>
          <p:nvPr/>
        </p:nvSpPr>
        <p:spPr>
          <a:xfrm>
            <a:off x="8101099" y="1622130"/>
            <a:ext cx="8354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Private Link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ja-JP" altLang="en-US" sz="1125" spc="0" baseline="0" dirty="0">
                <a:ln/>
                <a:solidFill>
                  <a:srgbClr val="2D3436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承認済み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44D904B-8B9C-94E1-1761-63C8D14F2C75}"/>
              </a:ext>
            </a:extLst>
          </p:cNvPr>
          <p:cNvSpPr txBox="1"/>
          <p:nvPr/>
        </p:nvSpPr>
        <p:spPr>
          <a:xfrm>
            <a:off x="48651" y="1637518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 dirty="0">
                <a:ln/>
                <a:solidFill>
                  <a:srgbClr val="2D3436"/>
                </a:solidFill>
                <a:latin typeface="+mn-ea"/>
                <a:cs typeface="Arial"/>
                <a:sym typeface="Arial"/>
                <a:rtl val="0"/>
              </a:rPr>
              <a:t>Power Platform </a:t>
            </a:r>
            <a:r>
              <a:rPr lang="ja-JP" altLang="en-US" sz="1000" spc="0" baseline="0" dirty="0">
                <a:ln/>
                <a:solidFill>
                  <a:srgbClr val="2D3436"/>
                </a:solidFill>
                <a:latin typeface="+mn-ea"/>
                <a:cs typeface="Arial"/>
                <a:sym typeface="ＭＳ ゴシック"/>
                <a:rtl val="0"/>
              </a:rPr>
              <a:t>環境</a:t>
            </a:r>
            <a:endParaRPr lang="en-US" altLang="ja-JP" sz="1000" spc="0" baseline="0" dirty="0">
              <a:ln/>
              <a:solidFill>
                <a:srgbClr val="2D3436"/>
              </a:solidFill>
              <a:latin typeface="+mn-ea"/>
              <a:cs typeface="Arial"/>
              <a:sym typeface="ＭＳ ゴシック"/>
              <a:rtl val="0"/>
            </a:endParaRPr>
          </a:p>
          <a:p>
            <a:pPr algn="l"/>
            <a:r>
              <a:rPr lang="en-US" altLang="ja-JP" sz="1000" spc="0" baseline="0" dirty="0">
                <a:ln/>
                <a:solidFill>
                  <a:srgbClr val="2D3436"/>
                </a:solidFill>
                <a:latin typeface="+mn-ea"/>
                <a:cs typeface="Arial"/>
                <a:sym typeface="ＭＳ ゴシック"/>
                <a:rtl val="0"/>
              </a:rPr>
              <a:t>(Managed Environment)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A9BED64-15D9-FD76-9F55-8A5E9535D4A2}"/>
              </a:ext>
            </a:extLst>
          </p:cNvPr>
          <p:cNvSpPr txBox="1"/>
          <p:nvPr/>
        </p:nvSpPr>
        <p:spPr>
          <a:xfrm>
            <a:off x="453822" y="1720568"/>
            <a:ext cx="184731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ja-JP" altLang="en-US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B89F313B-A7DE-B7B3-C7DE-740287EB6AEA}"/>
              </a:ext>
            </a:extLst>
          </p:cNvPr>
          <p:cNvSpPr txBox="1"/>
          <p:nvPr/>
        </p:nvSpPr>
        <p:spPr>
          <a:xfrm>
            <a:off x="1487723" y="3593409"/>
            <a:ext cx="2043624" cy="392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Enterprise Policy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(NetworkInjection / unitedstates)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5DC1942A-98D2-32C8-3CE3-AE92F93BC2A4}"/>
              </a:ext>
            </a:extLst>
          </p:cNvPr>
          <p:cNvSpPr txBox="1"/>
          <p:nvPr/>
        </p:nvSpPr>
        <p:spPr>
          <a:xfrm>
            <a:off x="729901" y="2835482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b="1" spc="0" baseline="0" dirty="0">
                <a:ln/>
                <a:solidFill>
                  <a:srgbClr val="2D3436"/>
                </a:solidFill>
                <a:latin typeface="+mn-ea"/>
                <a:sym typeface="ＭＳ ゴシック"/>
                <a:rtl val="0"/>
              </a:rPr>
              <a:t>リンク</a:t>
            </a:r>
            <a:endParaRPr lang="en-US" altLang="ja-JP" sz="1000" b="1" spc="0" baseline="0" dirty="0">
              <a:ln/>
              <a:solidFill>
                <a:srgbClr val="2D3436"/>
              </a:solidFill>
              <a:latin typeface="+mn-ea"/>
              <a:sym typeface="ＭＳ ゴシック"/>
              <a:rtl val="0"/>
            </a:endParaRPr>
          </a:p>
          <a:p>
            <a:r>
              <a:rPr lang="ja-JP" altLang="ja-JP" sz="800" dirty="0"/>
              <a:t>Enable-SubnetInjection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86BAEE34-284C-6EBD-22D2-E5AF4239F485}"/>
              </a:ext>
            </a:extLst>
          </p:cNvPr>
          <p:cNvSpPr txBox="1"/>
          <p:nvPr/>
        </p:nvSpPr>
        <p:spPr>
          <a:xfrm>
            <a:off x="4077757" y="3451389"/>
            <a:ext cx="1949573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snet-ppf-delegated 10.10.1.0/24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→ enterprisePolicies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F9788D8-6E46-9ED8-6F09-702EE08FF649}"/>
              </a:ext>
            </a:extLst>
          </p:cNvPr>
          <p:cNvSpPr txBox="1"/>
          <p:nvPr/>
        </p:nvSpPr>
        <p:spPr>
          <a:xfrm>
            <a:off x="4197473" y="5112595"/>
            <a:ext cx="1949573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snet-ppf-delegated 10.20.1.0/24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→ enterprisePolicies</a:t>
            </a: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623FB0C9-BD9E-F9E3-ECBA-80D8DFDBB1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724" y="4494981"/>
            <a:ext cx="720793" cy="721112"/>
          </a:xfrm>
          <a:custGeom>
            <a:avLst/>
            <a:gdLst>
              <a:gd name="csX0" fmla="*/ 43 w 720793"/>
              <a:gd name="csY0" fmla="*/ 805 h 721112"/>
              <a:gd name="csX1" fmla="*/ 720837 w 720793"/>
              <a:gd name="csY1" fmla="*/ 805 h 721112"/>
              <a:gd name="csX2" fmla="*/ 720837 w 720793"/>
              <a:gd name="csY2" fmla="*/ 721918 h 721112"/>
              <a:gd name="csX3" fmla="*/ 43 w 720793"/>
              <a:gd name="csY3" fmla="*/ 721918 h 7211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0793" h="721112">
                <a:moveTo>
                  <a:pt x="43" y="805"/>
                </a:moveTo>
                <a:lnTo>
                  <a:pt x="720837" y="805"/>
                </a:lnTo>
                <a:lnTo>
                  <a:pt x="720837" y="721918"/>
                </a:lnTo>
                <a:lnTo>
                  <a:pt x="43" y="721918"/>
                </a:lnTo>
                <a:close/>
              </a:path>
            </a:pathLst>
          </a:custGeom>
        </p:spPr>
      </p:pic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1BA63A4C-E9E3-6DAF-C23C-9369F0577E10}"/>
              </a:ext>
            </a:extLst>
          </p:cNvPr>
          <p:cNvSpPr txBox="1"/>
          <p:nvPr/>
        </p:nvSpPr>
        <p:spPr>
          <a:xfrm>
            <a:off x="1866119" y="5155253"/>
            <a:ext cx="1407758" cy="542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Private DNS Zone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privatelink.japaneast</a:t>
            </a:r>
            <a:endParaRPr lang="en-US" altLang="ja-JP" sz="975" spc="0" baseline="0" dirty="0">
              <a:ln/>
              <a:solidFill>
                <a:srgbClr val="2D3436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azurecontainerapps.io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321CEA37-C8E9-FD2C-838B-86FA513E2B15}"/>
              </a:ext>
            </a:extLst>
          </p:cNvPr>
          <p:cNvSpPr txBox="1"/>
          <p:nvPr/>
        </p:nvSpPr>
        <p:spPr>
          <a:xfrm>
            <a:off x="575923" y="5325427"/>
            <a:ext cx="219932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spc="0" baseline="0" dirty="0">
                <a:ln/>
                <a:solidFill>
                  <a:srgbClr val="2D3436"/>
                </a:solidFill>
                <a:latin typeface="Arial"/>
                <a:cs typeface="Arial"/>
                <a:sym typeface="Arial"/>
                <a:rtl val="0"/>
              </a:rPr>
              <a:t>.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4EFC44B5-B073-B696-7F8E-9CCD117527D1}"/>
              </a:ext>
            </a:extLst>
          </p:cNvPr>
          <p:cNvSpPr txBox="1"/>
          <p:nvPr/>
        </p:nvSpPr>
        <p:spPr>
          <a:xfrm>
            <a:off x="5589406" y="3856872"/>
            <a:ext cx="962123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b="1" spc="0" baseline="0" dirty="0">
                <a:ln/>
                <a:solidFill>
                  <a:srgbClr val="002060"/>
                </a:solidFill>
                <a:latin typeface="Arial"/>
                <a:cs typeface="Arial"/>
                <a:sym typeface="Arial"/>
                <a:rtl val="0"/>
              </a:rPr>
              <a:t>VNet Peering</a:t>
            </a:r>
          </a:p>
        </p:txBody>
      </p: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3C0DE425-64D6-A5B7-FE7B-0BAD2A36B228}"/>
              </a:ext>
            </a:extLst>
          </p:cNvPr>
          <p:cNvCxnSpPr>
            <a:cxnSpLocks/>
            <a:stCxn id="130" idx="2"/>
            <a:endCxn id="113" idx="1"/>
          </p:cNvCxnSpPr>
          <p:nvPr/>
        </p:nvCxnSpPr>
        <p:spPr>
          <a:xfrm rot="16200000" flipH="1">
            <a:off x="1093370" y="2374514"/>
            <a:ext cx="420545" cy="12262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58CE0BA-D880-83D3-C5D0-CCE002758B9C}"/>
              </a:ext>
            </a:extLst>
          </p:cNvPr>
          <p:cNvCxnSpPr>
            <a:cxnSpLocks/>
          </p:cNvCxnSpPr>
          <p:nvPr/>
        </p:nvCxnSpPr>
        <p:spPr>
          <a:xfrm>
            <a:off x="7300897" y="2032524"/>
            <a:ext cx="2767907" cy="11717"/>
          </a:xfrm>
          <a:prstGeom prst="straightConnector1">
            <a:avLst/>
          </a:prstGeom>
          <a:ln w="28575">
            <a:solidFill>
              <a:schemeClr val="accent6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6" name="図 105">
            <a:extLst>
              <a:ext uri="{FF2B5EF4-FFF2-40B4-BE49-F238E27FC236}">
                <a16:creationId xmlns:a16="http://schemas.microsoft.com/office/drawing/2014/main" id="{E9219CFC-2FA5-3CAC-9B92-F21E7A3EBD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9589" y="4553612"/>
            <a:ext cx="876422" cy="552527"/>
          </a:xfrm>
          <a:prstGeom prst="rect">
            <a:avLst/>
          </a:prstGeom>
        </p:spPr>
      </p:pic>
      <p:pic>
        <p:nvPicPr>
          <p:cNvPr id="108" name="図 107">
            <a:extLst>
              <a:ext uri="{FF2B5EF4-FFF2-40B4-BE49-F238E27FC236}">
                <a16:creationId xmlns:a16="http://schemas.microsoft.com/office/drawing/2014/main" id="{D4F91F2F-5789-380F-7273-E188C1874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396" y="2921663"/>
            <a:ext cx="876422" cy="552527"/>
          </a:xfrm>
          <a:prstGeom prst="rect">
            <a:avLst/>
          </a:prstGeom>
        </p:spPr>
      </p:pic>
      <p:cxnSp>
        <p:nvCxnSpPr>
          <p:cNvPr id="110" name="コネクタ: カギ線 109">
            <a:extLst>
              <a:ext uri="{FF2B5EF4-FFF2-40B4-BE49-F238E27FC236}">
                <a16:creationId xmlns:a16="http://schemas.microsoft.com/office/drawing/2014/main" id="{9E2514B3-27C6-F29B-A633-BF9D31E03FCB}"/>
              </a:ext>
            </a:extLst>
          </p:cNvPr>
          <p:cNvCxnSpPr>
            <a:cxnSpLocks/>
            <a:stCxn id="108" idx="3"/>
            <a:endCxn id="106" idx="3"/>
          </p:cNvCxnSpPr>
          <p:nvPr/>
        </p:nvCxnSpPr>
        <p:spPr>
          <a:xfrm>
            <a:off x="5306818" y="3197927"/>
            <a:ext cx="39193" cy="1631949"/>
          </a:xfrm>
          <a:prstGeom prst="bentConnector3">
            <a:avLst>
              <a:gd name="adj1" fmla="val 683267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図 112">
            <a:extLst>
              <a:ext uri="{FF2B5EF4-FFF2-40B4-BE49-F238E27FC236}">
                <a16:creationId xmlns:a16="http://schemas.microsoft.com/office/drawing/2014/main" id="{DF00880E-BF9C-26E8-F698-37B465B1E9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6781" y="2815707"/>
            <a:ext cx="722893" cy="764438"/>
          </a:xfrm>
          <a:prstGeom prst="rect">
            <a:avLst/>
          </a:prstGeom>
        </p:spPr>
      </p:pic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1D2B2BE2-E319-D1B4-B02D-739348B12EC4}"/>
              </a:ext>
            </a:extLst>
          </p:cNvPr>
          <p:cNvCxnSpPr>
            <a:stCxn id="113" idx="3"/>
            <a:endCxn id="108" idx="1"/>
          </p:cNvCxnSpPr>
          <p:nvPr/>
        </p:nvCxnSpPr>
        <p:spPr>
          <a:xfrm>
            <a:off x="2639674" y="3197926"/>
            <a:ext cx="179072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30F084AF-9076-A7F3-1157-8A69BC4FE5FD}"/>
              </a:ext>
            </a:extLst>
          </p:cNvPr>
          <p:cNvCxnSpPr>
            <a:stCxn id="113" idx="3"/>
            <a:endCxn id="106" idx="1"/>
          </p:cNvCxnSpPr>
          <p:nvPr/>
        </p:nvCxnSpPr>
        <p:spPr>
          <a:xfrm>
            <a:off x="2639674" y="3197926"/>
            <a:ext cx="1829915" cy="16319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EA65783C-2FFC-2A1A-0153-A5EE8ECFBEFE}"/>
              </a:ext>
            </a:extLst>
          </p:cNvPr>
          <p:cNvSpPr txBox="1"/>
          <p:nvPr/>
        </p:nvSpPr>
        <p:spPr>
          <a:xfrm>
            <a:off x="3062712" y="2948849"/>
            <a:ext cx="1059906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75" b="1" spc="0" baseline="0" dirty="0">
                <a:ln/>
                <a:solidFill>
                  <a:srgbClr val="002060"/>
                </a:solidFill>
                <a:latin typeface="Arial"/>
                <a:cs typeface="Arial"/>
                <a:sym typeface="Arial"/>
                <a:rtl val="0"/>
              </a:rPr>
              <a:t>委任サブネット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33950E50-29F4-F4C9-9FC9-99CF27F77D59}"/>
              </a:ext>
            </a:extLst>
          </p:cNvPr>
          <p:cNvSpPr txBox="1"/>
          <p:nvPr/>
        </p:nvSpPr>
        <p:spPr>
          <a:xfrm>
            <a:off x="8167937" y="2950596"/>
            <a:ext cx="390873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i="0" dirty="0">
                <a:effectLst/>
                <a:latin typeface="+mn-ea"/>
              </a:rPr>
              <a:t>Enterprise Policy</a:t>
            </a:r>
            <a:r>
              <a:rPr lang="ja-JP" altLang="en-US" sz="1000" b="1" i="0" dirty="0">
                <a:effectLst/>
                <a:latin typeface="+mn-ea"/>
              </a:rPr>
              <a:t>（エンタープライズ ポリシー） </a:t>
            </a:r>
            <a:r>
              <a:rPr lang="ja-JP" altLang="en-US" sz="1000" i="0" dirty="0">
                <a:effectLst/>
                <a:latin typeface="+mn-ea"/>
              </a:rPr>
              <a:t>とは、</a:t>
            </a:r>
            <a:r>
              <a:rPr lang="en-US" altLang="ja-JP" sz="1000" i="0" dirty="0">
                <a:effectLst/>
                <a:latin typeface="+mn-ea"/>
              </a:rPr>
              <a:t>Power Platform </a:t>
            </a:r>
            <a:r>
              <a:rPr lang="ja-JP" altLang="en-US" sz="1000" i="0" dirty="0">
                <a:effectLst/>
                <a:latin typeface="+mn-ea"/>
              </a:rPr>
              <a:t>環境を </a:t>
            </a:r>
            <a:r>
              <a:rPr lang="en-US" altLang="ja-JP" sz="1000" i="0" dirty="0">
                <a:effectLst/>
                <a:latin typeface="+mn-ea"/>
              </a:rPr>
              <a:t>Azure </a:t>
            </a:r>
            <a:r>
              <a:rPr lang="ja-JP" altLang="en-US" sz="1000" i="0" dirty="0">
                <a:effectLst/>
                <a:latin typeface="+mn-ea"/>
              </a:rPr>
              <a:t>の仮想ネットワーク（</a:t>
            </a:r>
            <a:r>
              <a:rPr lang="en-US" altLang="ja-JP" sz="1000" i="0" dirty="0">
                <a:effectLst/>
                <a:latin typeface="+mn-ea"/>
              </a:rPr>
              <a:t>VNet</a:t>
            </a:r>
            <a:r>
              <a:rPr lang="ja-JP" altLang="en-US" sz="1000" i="0" dirty="0">
                <a:effectLst/>
                <a:latin typeface="+mn-ea"/>
              </a:rPr>
              <a:t>）へ 接続（サブネット インジェクション） するための </a:t>
            </a:r>
            <a:r>
              <a:rPr lang="en-US" altLang="ja-JP" sz="1000" i="0" dirty="0">
                <a:effectLst/>
                <a:latin typeface="+mn-ea"/>
              </a:rPr>
              <a:t>Azure </a:t>
            </a:r>
            <a:r>
              <a:rPr lang="ja-JP" altLang="en-US" sz="1000" i="0" dirty="0">
                <a:effectLst/>
                <a:latin typeface="+mn-ea"/>
              </a:rPr>
              <a:t>リソースです。この構成図では「閉域 </a:t>
            </a:r>
            <a:r>
              <a:rPr lang="en-US" altLang="ja-JP" sz="1000" i="0" dirty="0">
                <a:effectLst/>
                <a:latin typeface="+mn-ea"/>
              </a:rPr>
              <a:t>Power Platform</a:t>
            </a:r>
            <a:r>
              <a:rPr lang="ja-JP" altLang="en-US" sz="1000" i="0" dirty="0">
                <a:effectLst/>
                <a:latin typeface="+mn-ea"/>
              </a:rPr>
              <a:t>」を実現する中核部品になっています。</a:t>
            </a:r>
          </a:p>
          <a:p>
            <a:endParaRPr lang="ja-JP" altLang="en-US" sz="1000" i="0" dirty="0">
              <a:effectLst/>
              <a:latin typeface="+mn-ea"/>
            </a:endParaRPr>
          </a:p>
          <a:p>
            <a:r>
              <a:rPr lang="en-US" altLang="ja-JP" sz="1000" i="0" dirty="0">
                <a:effectLst/>
                <a:latin typeface="+mn-ea"/>
              </a:rPr>
              <a:t>Power Platform </a:t>
            </a:r>
            <a:r>
              <a:rPr lang="ja-JP" altLang="en-US" sz="1000" i="0" dirty="0">
                <a:effectLst/>
                <a:latin typeface="+mn-ea"/>
              </a:rPr>
              <a:t>の </a:t>
            </a:r>
            <a:r>
              <a:rPr lang="en-US" altLang="ja-JP" sz="1000" i="0" dirty="0">
                <a:effectLst/>
                <a:latin typeface="+mn-ea"/>
              </a:rPr>
              <a:t>VNet </a:t>
            </a:r>
            <a:r>
              <a:rPr lang="ja-JP" altLang="en-US" sz="1000" i="0" dirty="0">
                <a:effectLst/>
                <a:latin typeface="+mn-ea"/>
              </a:rPr>
              <a:t>接続（サブネット インジェクション） を有効化するには、プライマリ リージョンの </a:t>
            </a:r>
            <a:r>
              <a:rPr lang="en-US" altLang="ja-JP" sz="1000" i="0" dirty="0">
                <a:effectLst/>
                <a:latin typeface="+mn-ea"/>
              </a:rPr>
              <a:t>VNET </a:t>
            </a:r>
            <a:r>
              <a:rPr lang="ja-JP" altLang="en-US" sz="1000" i="0" dirty="0">
                <a:effectLst/>
                <a:latin typeface="+mn-ea"/>
              </a:rPr>
              <a:t>だけでなく、その </a:t>
            </a:r>
            <a:r>
              <a:rPr lang="en-US" altLang="ja-JP" sz="1000" b="1" i="0" dirty="0">
                <a:effectLst/>
                <a:latin typeface="+mn-ea"/>
              </a:rPr>
              <a:t>Azure </a:t>
            </a:r>
            <a:r>
              <a:rPr lang="ja-JP" altLang="en-US" sz="1000" b="1" i="0" dirty="0">
                <a:effectLst/>
                <a:latin typeface="+mn-ea"/>
              </a:rPr>
              <a:t>ペアリージョン（リージョン ペア）側の </a:t>
            </a:r>
            <a:r>
              <a:rPr lang="en-US" altLang="ja-JP" sz="1000" b="1" i="0" dirty="0">
                <a:effectLst/>
                <a:latin typeface="+mn-ea"/>
              </a:rPr>
              <a:t>VNET </a:t>
            </a:r>
            <a:r>
              <a:rPr lang="ja-JP" altLang="en-US" sz="1000" b="1" i="0" dirty="0">
                <a:effectLst/>
                <a:latin typeface="+mn-ea"/>
              </a:rPr>
              <a:t>も必須</a:t>
            </a:r>
            <a:r>
              <a:rPr lang="ja-JP" altLang="en-US" sz="1000" i="0" dirty="0">
                <a:effectLst/>
                <a:latin typeface="+mn-ea"/>
              </a:rPr>
              <a:t>です。片方のリージョンだけでは構成できません。</a:t>
            </a:r>
            <a:endParaRPr lang="en-US" altLang="ja-JP" sz="1000" i="0" dirty="0">
              <a:effectLst/>
              <a:latin typeface="+mn-ea"/>
            </a:endParaRPr>
          </a:p>
          <a:p>
            <a:endParaRPr lang="en-US" altLang="ja-JP" sz="1000" dirty="0">
              <a:latin typeface="+mn-ea"/>
            </a:endParaRPr>
          </a:p>
          <a:p>
            <a:r>
              <a:rPr lang="en-US" altLang="ja-JP" sz="1000" dirty="0">
                <a:latin typeface="+mn-ea"/>
              </a:rPr>
              <a:t>Power Platform </a:t>
            </a:r>
            <a:r>
              <a:rPr lang="ja-JP" altLang="en-US" sz="1000" dirty="0">
                <a:latin typeface="+mn-ea"/>
              </a:rPr>
              <a:t>環境は </a:t>
            </a:r>
            <a:r>
              <a:rPr lang="en-US" altLang="ja-JP" sz="1000" b="1" dirty="0">
                <a:latin typeface="+mn-ea"/>
              </a:rPr>
              <a:t>Managed Environment </a:t>
            </a:r>
            <a:r>
              <a:rPr lang="ja-JP" altLang="en-US" sz="1000" dirty="0">
                <a:latin typeface="+mn-ea"/>
              </a:rPr>
              <a:t>が必要です。</a:t>
            </a:r>
            <a:endParaRPr lang="en-US" altLang="ja-JP" sz="1000" dirty="0">
              <a:latin typeface="+mn-ea"/>
            </a:endParaRPr>
          </a:p>
          <a:p>
            <a:endParaRPr lang="en-US" altLang="ja-JP" sz="1000" dirty="0">
              <a:latin typeface="+mn-ea"/>
            </a:endParaRPr>
          </a:p>
          <a:p>
            <a:r>
              <a:rPr lang="ja-JP" altLang="en-US" sz="1000" dirty="0">
                <a:latin typeface="+mn-ea"/>
              </a:rPr>
              <a:t>閉域化されるのは </a:t>
            </a:r>
            <a:r>
              <a:rPr lang="en-US" altLang="ja-JP" sz="1000" dirty="0">
                <a:latin typeface="+mn-ea"/>
              </a:rPr>
              <a:t>Dataverse </a:t>
            </a:r>
            <a:r>
              <a:rPr lang="ja-JP" altLang="en-US" sz="1000" dirty="0">
                <a:latin typeface="+mn-ea"/>
              </a:rPr>
              <a:t>プラグインと一部コネクタの実行時アウトバウンド通信のみ、以下代表例</a:t>
            </a:r>
            <a:endParaRPr lang="en-US" altLang="ja-JP" sz="10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+mn-ea"/>
              </a:rPr>
              <a:t>SQL Server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+mn-ea"/>
              </a:rPr>
              <a:t>Azure Blob Storage / Azure File Storage / Azure Queues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900" dirty="0">
                <a:latin typeface="+mn-ea"/>
              </a:rPr>
              <a:t>HTTP with Microsoft Entra 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900" dirty="0">
                <a:latin typeface="+mn-ea"/>
              </a:rPr>
              <a:t>カスタムコネクタ（</a:t>
            </a:r>
            <a:r>
              <a:rPr lang="en-US" altLang="ja-JP" sz="900" dirty="0">
                <a:latin typeface="+mn-ea"/>
              </a:rPr>
              <a:t>HTTP </a:t>
            </a:r>
            <a:r>
              <a:rPr lang="ja-JP" altLang="en-US" sz="900" dirty="0">
                <a:latin typeface="+mn-ea"/>
              </a:rPr>
              <a:t>ベース）</a:t>
            </a:r>
            <a:endParaRPr lang="en-US" altLang="ja-JP" sz="900" dirty="0">
              <a:latin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ja-JP" sz="900" dirty="0">
              <a:latin typeface="+mn-ea"/>
            </a:endParaRPr>
          </a:p>
          <a:p>
            <a:r>
              <a:rPr lang="en-US" altLang="ja-JP" sz="900" dirty="0">
                <a:latin typeface="+mn-ea"/>
              </a:rPr>
              <a:t>Azure </a:t>
            </a:r>
            <a:r>
              <a:rPr lang="ja-JP" altLang="en-US" sz="900" dirty="0">
                <a:latin typeface="+mn-ea"/>
              </a:rPr>
              <a:t>側で </a:t>
            </a:r>
            <a:r>
              <a:rPr lang="en-US" altLang="ja-JP" sz="900" dirty="0">
                <a:latin typeface="+mn-ea"/>
              </a:rPr>
              <a:t>PaaS </a:t>
            </a:r>
            <a:r>
              <a:rPr lang="ja-JP" altLang="en-US" sz="900" dirty="0">
                <a:latin typeface="+mn-ea"/>
              </a:rPr>
              <a:t>ごとに </a:t>
            </a:r>
            <a:r>
              <a:rPr lang="en-US" altLang="ja-JP" sz="900" dirty="0">
                <a:latin typeface="+mn-ea"/>
              </a:rPr>
              <a:t>Private Endpoint </a:t>
            </a:r>
            <a:r>
              <a:rPr lang="ja-JP" altLang="en-US" sz="900" dirty="0">
                <a:latin typeface="+mn-ea"/>
              </a:rPr>
              <a:t>を張ると </a:t>
            </a:r>
            <a:r>
              <a:rPr lang="en-US" altLang="ja-JP" sz="900" dirty="0">
                <a:latin typeface="+mn-ea"/>
              </a:rPr>
              <a:t>FQDN </a:t>
            </a:r>
            <a:r>
              <a:rPr lang="ja-JP" altLang="en-US" sz="900" dirty="0">
                <a:latin typeface="+mn-ea"/>
              </a:rPr>
              <a:t>が乱立します。</a:t>
            </a:r>
            <a:r>
              <a:rPr lang="en-US" altLang="ja-JP" sz="900" b="1" dirty="0">
                <a:latin typeface="+mn-ea"/>
              </a:rPr>
              <a:t>APIM </a:t>
            </a:r>
            <a:r>
              <a:rPr lang="ja-JP" altLang="en-US" sz="900" b="1" dirty="0">
                <a:latin typeface="+mn-ea"/>
              </a:rPr>
              <a:t>を前段に置くと 単一の </a:t>
            </a:r>
            <a:r>
              <a:rPr lang="en-US" altLang="ja-JP" sz="900" b="1" dirty="0">
                <a:latin typeface="+mn-ea"/>
              </a:rPr>
              <a:t>FQDN </a:t>
            </a:r>
            <a:r>
              <a:rPr lang="ja-JP" altLang="en-US" sz="900" b="1" dirty="0">
                <a:latin typeface="+mn-ea"/>
              </a:rPr>
              <a:t>に集約でき</a:t>
            </a:r>
            <a:r>
              <a:rPr lang="en-US" altLang="ja-JP" sz="900" b="1" dirty="0">
                <a:latin typeface="+mn-ea"/>
              </a:rPr>
              <a:t>Power Platform</a:t>
            </a:r>
            <a:r>
              <a:rPr lang="ja-JP" altLang="en-US" sz="900" b="1" dirty="0">
                <a:latin typeface="+mn-ea"/>
              </a:rPr>
              <a:t>側の</a:t>
            </a:r>
            <a:r>
              <a:rPr lang="en-US" altLang="ja-JP" sz="900" b="1" dirty="0">
                <a:latin typeface="+mn-ea"/>
              </a:rPr>
              <a:t>DLP</a:t>
            </a:r>
            <a:r>
              <a:rPr lang="ja-JP" altLang="en-US" sz="900" b="1" dirty="0">
                <a:latin typeface="+mn-ea"/>
              </a:rPr>
              <a:t>運用などが軽減</a:t>
            </a:r>
            <a:r>
              <a:rPr lang="ja-JP" altLang="en-US" sz="900" dirty="0">
                <a:latin typeface="+mn-ea"/>
              </a:rPr>
              <a:t>されます。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98CF17A1-BABF-C46E-A6CA-96F3E195456C}"/>
              </a:ext>
            </a:extLst>
          </p:cNvPr>
          <p:cNvSpPr txBox="1"/>
          <p:nvPr/>
        </p:nvSpPr>
        <p:spPr>
          <a:xfrm>
            <a:off x="1121700" y="2253157"/>
            <a:ext cx="2979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900" b="0" i="0" dirty="0">
                <a:effectLst/>
                <a:latin typeface="Segoe WPC"/>
              </a:rPr>
              <a:t>プラグイン／コネクタの</a:t>
            </a:r>
            <a:r>
              <a:rPr lang="ja-JP" altLang="ja-JP" sz="900" b="1" i="0" dirty="0">
                <a:effectLst/>
                <a:latin typeface="Segoe WPC"/>
              </a:rPr>
              <a:t>実行時アウトバウンド</a:t>
            </a:r>
            <a:endParaRPr lang="ja-JP" altLang="en-US" sz="1600" dirty="0"/>
          </a:p>
        </p:txBody>
      </p:sp>
      <p:pic>
        <p:nvPicPr>
          <p:cNvPr id="130" name="図 129">
            <a:extLst>
              <a:ext uri="{FF2B5EF4-FFF2-40B4-BE49-F238E27FC236}">
                <a16:creationId xmlns:a16="http://schemas.microsoft.com/office/drawing/2014/main" id="{73BEE1F1-8D1D-9D4C-2F4A-807D0411DB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688" y="2049780"/>
            <a:ext cx="671632" cy="727601"/>
          </a:xfrm>
          <a:prstGeom prst="rect">
            <a:avLst/>
          </a:prstGeom>
        </p:spPr>
      </p:pic>
      <p:cxnSp>
        <p:nvCxnSpPr>
          <p:cNvPr id="133" name="コネクタ: カギ線 132">
            <a:extLst>
              <a:ext uri="{FF2B5EF4-FFF2-40B4-BE49-F238E27FC236}">
                <a16:creationId xmlns:a16="http://schemas.microsoft.com/office/drawing/2014/main" id="{5FFFB798-7284-A789-D3E4-B7EA4097022D}"/>
              </a:ext>
            </a:extLst>
          </p:cNvPr>
          <p:cNvCxnSpPr>
            <a:cxnSpLocks/>
          </p:cNvCxnSpPr>
          <p:nvPr/>
        </p:nvCxnSpPr>
        <p:spPr>
          <a:xfrm flipV="1">
            <a:off x="1026320" y="2004471"/>
            <a:ext cx="5553784" cy="491490"/>
          </a:xfrm>
          <a:prstGeom prst="bentConnector3">
            <a:avLst>
              <a:gd name="adj1" fmla="val 904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40AB736F-71CA-F156-1E49-C84F6081FD2A}"/>
              </a:ext>
            </a:extLst>
          </p:cNvPr>
          <p:cNvCxnSpPr>
            <a:cxnSpLocks/>
          </p:cNvCxnSpPr>
          <p:nvPr/>
        </p:nvCxnSpPr>
        <p:spPr>
          <a:xfrm>
            <a:off x="5172259" y="1920497"/>
            <a:ext cx="1407845" cy="769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5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345</Words>
  <Application>Microsoft Office PowerPoint</Application>
  <PresentationFormat>ワイド画面</PresentationFormat>
  <Paragraphs>46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ＭＳ ゴシック</vt:lpstr>
      <vt:lpstr>Segoe WPC</vt:lpstr>
      <vt:lpstr>游ゴシック</vt:lpstr>
      <vt:lpstr>游ゴシック Light</vt:lpstr>
      <vt:lpstr>Aptos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Kenichi Tanaka</dc:creator>
  <cp:lastModifiedBy>Kenichi Tanaka</cp:lastModifiedBy>
  <cp:revision>2</cp:revision>
  <dcterms:created xsi:type="dcterms:W3CDTF">2026-07-15T03:10:10Z</dcterms:created>
  <dcterms:modified xsi:type="dcterms:W3CDTF">2026-07-15T04:26:00Z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テーマ:8</vt:lpwstr>
  </property>
  <property fmtid="{D5CDD505-2E9C-101B-9397-08002B2CF9AE}" pid="3" name="ClassificationContentMarkingFooterText">
    <vt:lpwstr>Classified as Microsoft Confidential</vt:lpwstr>
  </property>
</Properties>
</file>